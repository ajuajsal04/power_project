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B2EDBA-3884-4D47-A0FE-FF7540E0E62E}" v="1" dt="2026-09-18T19:37:46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sal PA" userId="9a329c032dd27f54" providerId="LiveId" clId="{91C5E186-79EE-4266-88B7-4890FAB11BCE}"/>
    <pc:docChg chg="modSld">
      <pc:chgData name="Ajsal PA" userId="9a329c032dd27f54" providerId="LiveId" clId="{91C5E186-79EE-4266-88B7-4890FAB11BCE}" dt="2026-09-18T19:37:56.551" v="22"/>
      <pc:docMkLst>
        <pc:docMk/>
      </pc:docMkLst>
      <pc:sldChg chg="addSp delSp modSp mod">
        <pc:chgData name="Ajsal PA" userId="9a329c032dd27f54" providerId="LiveId" clId="{91C5E186-79EE-4266-88B7-4890FAB11BCE}" dt="2026-09-18T19:37:56.551" v="22"/>
        <pc:sldMkLst>
          <pc:docMk/>
          <pc:sldMk cId="0" sldId="256"/>
        </pc:sldMkLst>
        <pc:spChg chg="mod">
          <ac:chgData name="Ajsal PA" userId="9a329c032dd27f54" providerId="LiveId" clId="{91C5E186-79EE-4266-88B7-4890FAB11BCE}" dt="2026-09-18T19:37:55.323" v="20" actId="20577"/>
          <ac:spMkLst>
            <pc:docMk/>
            <pc:sldMk cId="0" sldId="256"/>
            <ac:spMk id="8" creationId="{00000000-0000-0000-0000-000000000000}"/>
          </ac:spMkLst>
        </pc:spChg>
        <pc:spChg chg="add del mod">
          <ac:chgData name="Ajsal PA" userId="9a329c032dd27f54" providerId="LiveId" clId="{91C5E186-79EE-4266-88B7-4890FAB11BCE}" dt="2026-09-18T19:37:56.551" v="22"/>
          <ac:spMkLst>
            <pc:docMk/>
            <pc:sldMk cId="0" sldId="256"/>
            <ac:spMk id="9" creationId="{9447321A-FB59-B8B1-5559-D9013830FEF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193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A1931"/>
                </a:solidFill>
                <a:latin typeface="Arial"/>
              </a:rPr>
              <a:t>Avg Price by Travel Class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(USD)</c:v>
                </c:pt>
              </c:strCache>
            </c:strRef>
          </c:tx>
          <c:spPr>
            <a:solidFill>
              <a:srgbClr val="0CBAB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B7-4A33-B8A8-7FAD470A37D0}"/>
              </c:ext>
            </c:extLst>
          </c:dPt>
          <c:dPt>
            <c:idx val="1"/>
            <c:invertIfNegative val="0"/>
            <c:bubble3D val="0"/>
            <c:spPr>
              <a:solidFill>
                <a:srgbClr val="185A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B7-4A33-B8A8-7FAD470A37D0}"/>
              </c:ext>
            </c:extLst>
          </c:dPt>
          <c:dPt>
            <c:idx val="2"/>
            <c:invertIfNegative val="0"/>
            <c:bubble3D val="0"/>
            <c:spPr>
              <a:solidFill>
                <a:srgbClr val="185A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B7-4A33-B8A8-7FAD470A37D0}"/>
              </c:ext>
            </c:extLst>
          </c:dPt>
          <c:dPt>
            <c:idx val="3"/>
            <c:invertIfNegative val="0"/>
            <c:bubble3D val="0"/>
            <c:spPr>
              <a:solidFill>
                <a:srgbClr val="FFC9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6B7-4A33-B8A8-7FAD470A37D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Economy</c:v>
                </c:pt>
                <c:pt idx="1">
                  <c:v>Premium
Economy</c:v>
                </c:pt>
                <c:pt idx="2">
                  <c:v>Business</c:v>
                </c:pt>
                <c:pt idx="3">
                  <c:v>First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2242</c:v>
                </c:pt>
                <c:pt idx="1">
                  <c:v>2604</c:v>
                </c:pt>
                <c:pt idx="2">
                  <c:v>2549</c:v>
                </c:pt>
                <c:pt idx="3">
                  <c:v>2878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6B7-4A33-B8A8-7FAD470A37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931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A1931"/>
                </a:solidFill>
                <a:latin typeface="Arial"/>
              </a:rPr>
              <a:t>Bookings by Departure City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185AD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8EC-40A8-A782-AF914A7027C7}"/>
              </c:ext>
            </c:extLst>
          </c:dPt>
          <c:dPt>
            <c:idx val="1"/>
            <c:invertIfNegative val="0"/>
            <c:bubble3D val="0"/>
            <c:spPr>
              <a:solidFill>
                <a:srgbClr val="0CBAB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EC-40A8-A782-AF914A7027C7}"/>
              </c:ext>
            </c:extLst>
          </c:dPt>
          <c:dPt>
            <c:idx val="2"/>
            <c:invertIfNegative val="0"/>
            <c:bubble3D val="0"/>
            <c:spPr>
              <a:solidFill>
                <a:srgbClr val="1A5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EC-40A8-A782-AF914A7027C7}"/>
              </c:ext>
            </c:extLst>
          </c:dPt>
          <c:dPt>
            <c:idx val="3"/>
            <c:invertIfNegative val="0"/>
            <c:bubble3D val="0"/>
            <c:spPr>
              <a:solidFill>
                <a:srgbClr val="0D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8EC-40A8-A782-AF914A7027C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8EC-40A8-A782-AF914A7027C7}"/>
              </c:ext>
            </c:extLst>
          </c:dPt>
          <c:dPt>
            <c:idx val="5"/>
            <c:invertIfNegative val="0"/>
            <c:bubble3D val="0"/>
            <c:spPr>
              <a:solidFill>
                <a:srgbClr val="28AE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8EC-40A8-A782-AF914A7027C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Mumbai</c:v>
                </c:pt>
                <c:pt idx="1">
                  <c:v>Dubai</c:v>
                </c:pt>
                <c:pt idx="2">
                  <c:v>New York</c:v>
                </c:pt>
                <c:pt idx="3">
                  <c:v>Delhi</c:v>
                </c:pt>
                <c:pt idx="4">
                  <c:v>London</c:v>
                </c:pt>
                <c:pt idx="5">
                  <c:v>Frankfurt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</c:v>
                </c:pt>
                <c:pt idx="1">
                  <c:v>33</c:v>
                </c:pt>
                <c:pt idx="2">
                  <c:v>32</c:v>
                </c:pt>
                <c:pt idx="3">
                  <c:v>32</c:v>
                </c:pt>
                <c:pt idx="4">
                  <c:v>31</c:v>
                </c:pt>
                <c:pt idx="5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8EC-40A8-A782-AF914A7027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931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A1931"/>
                </a:solidFill>
                <a:latin typeface="Arial"/>
              </a:rPr>
              <a:t>Payment Method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85A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668-4704-BE56-2C57585CE6EE}"/>
              </c:ext>
            </c:extLst>
          </c:dPt>
          <c:dPt>
            <c:idx val="1"/>
            <c:bubble3D val="0"/>
            <c:spPr>
              <a:solidFill>
                <a:srgbClr val="0CBAB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668-4704-BE56-2C57585CE6EE}"/>
              </c:ext>
            </c:extLst>
          </c:dPt>
          <c:dPt>
            <c:idx val="2"/>
            <c:bubble3D val="0"/>
            <c:spPr>
              <a:solidFill>
                <a:srgbClr val="FFC9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668-4704-BE56-2C57585CE6EE}"/>
              </c:ext>
            </c:extLst>
          </c:dPt>
          <c:dPt>
            <c:idx val="3"/>
            <c:bubble3D val="0"/>
            <c:spPr>
              <a:solidFill>
                <a:srgbClr val="1A5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668-4704-BE56-2C57585CE6EE}"/>
              </c:ext>
            </c:extLst>
          </c:dPt>
          <c:dPt>
            <c:idx val="4"/>
            <c:bubble3D val="0"/>
            <c:spPr>
              <a:solidFill>
                <a:srgbClr val="0D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668-4704-BE56-2C57585CE6EE}"/>
              </c:ext>
            </c:extLst>
          </c:dPt>
          <c:dPt>
            <c:idx val="5"/>
            <c:bubble3D val="0"/>
            <c:spPr>
              <a:solidFill>
                <a:srgbClr val="0A19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668-4704-BE56-2C57585CE6E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668-4704-BE56-2C57585CE6E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668-4704-BE56-2C57585CE6E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668-4704-BE56-2C57585CE6E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668-4704-BE56-2C57585CE6E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668-4704-BE56-2C57585CE6EE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668-4704-BE56-2C57585CE6E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Credit Card</c:v>
                </c:pt>
                <c:pt idx="1">
                  <c:v>Cash</c:v>
                </c:pt>
                <c:pt idx="2">
                  <c:v>Net Banking</c:v>
                </c:pt>
                <c:pt idx="3">
                  <c:v>PayPal</c:v>
                </c:pt>
                <c:pt idx="4">
                  <c:v>Debit Card</c:v>
                </c:pt>
                <c:pt idx="5">
                  <c:v>UPI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</c:v>
                </c:pt>
                <c:pt idx="1">
                  <c:v>45</c:v>
                </c:pt>
                <c:pt idx="2">
                  <c:v>45</c:v>
                </c:pt>
                <c:pt idx="3">
                  <c:v>44</c:v>
                </c:pt>
                <c:pt idx="4">
                  <c:v>38</c:v>
                </c:pt>
                <c:pt idx="5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668-4704-BE56-2C57585CE6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1931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0A1931"/>
                </a:solidFill>
                <a:latin typeface="Arial"/>
              </a:rPr>
              <a:t>Passengers by Travel Class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Passengers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C9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654-49B0-A833-A203795916F9}"/>
              </c:ext>
            </c:extLst>
          </c:dPt>
          <c:dPt>
            <c:idx val="1"/>
            <c:bubble3D val="0"/>
            <c:spPr>
              <a:solidFill>
                <a:srgbClr val="185A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54-49B0-A833-A203795916F9}"/>
              </c:ext>
            </c:extLst>
          </c:dPt>
          <c:dPt>
            <c:idx val="2"/>
            <c:bubble3D val="0"/>
            <c:spPr>
              <a:solidFill>
                <a:srgbClr val="0CBAB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54-49B0-A833-A203795916F9}"/>
              </c:ext>
            </c:extLst>
          </c:dPt>
          <c:dPt>
            <c:idx val="3"/>
            <c:bubble3D val="0"/>
            <c:spPr>
              <a:solidFill>
                <a:srgbClr val="ADB5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654-49B0-A833-A203795916F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54-49B0-A833-A203795916F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654-49B0-A833-A203795916F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654-49B0-A833-A203795916F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654-49B0-A833-A203795916F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Premium Economy</c:v>
                </c:pt>
                <c:pt idx="1">
                  <c:v>First</c:v>
                </c:pt>
                <c:pt idx="2">
                  <c:v>Business</c:v>
                </c:pt>
                <c:pt idx="3">
                  <c:v>Economy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</c:v>
                </c:pt>
                <c:pt idx="1">
                  <c:v>63</c:v>
                </c:pt>
                <c:pt idx="2">
                  <c:v>62</c:v>
                </c:pt>
                <c:pt idx="3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654-49B0-A833-A203795916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931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A1931"/>
                </a:solidFill>
                <a:latin typeface="Arial"/>
              </a:rPr>
              <a:t>Bookings per Airline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185AD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E44-4D0D-8E96-A2547A1ACB50}"/>
              </c:ext>
            </c:extLst>
          </c:dPt>
          <c:dPt>
            <c:idx val="1"/>
            <c:invertIfNegative val="0"/>
            <c:bubble3D val="0"/>
            <c:spPr>
              <a:solidFill>
                <a:srgbClr val="0CBAB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44-4D0D-8E96-A2547A1ACB50}"/>
              </c:ext>
            </c:extLst>
          </c:dPt>
          <c:dPt>
            <c:idx val="2"/>
            <c:invertIfNegative val="0"/>
            <c:bubble3D val="0"/>
            <c:spPr>
              <a:solidFill>
                <a:srgbClr val="FFC9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44-4D0D-8E96-A2547A1ACB50}"/>
              </c:ext>
            </c:extLst>
          </c:dPt>
          <c:dPt>
            <c:idx val="3"/>
            <c:invertIfNegative val="0"/>
            <c:bubble3D val="0"/>
            <c:spPr>
              <a:solidFill>
                <a:srgbClr val="1A5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E44-4D0D-8E96-A2547A1ACB50}"/>
              </c:ext>
            </c:extLst>
          </c:dPt>
          <c:dPt>
            <c:idx val="4"/>
            <c:invertIfNegative val="0"/>
            <c:bubble3D val="0"/>
            <c:spPr>
              <a:solidFill>
                <a:srgbClr val="0D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E44-4D0D-8E96-A2547A1ACB5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 Airways</c:v>
                </c:pt>
                <c:pt idx="1">
                  <c:v>S Airlines</c:v>
                </c:pt>
                <c:pt idx="2">
                  <c:v>E Airlines</c:v>
                </c:pt>
                <c:pt idx="3">
                  <c:v>L Airlines</c:v>
                </c:pt>
                <c:pt idx="4">
                  <c:v>Air 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44</c:v>
                </c:pt>
                <c:pt idx="2">
                  <c:v>43</c:v>
                </c:pt>
                <c:pt idx="3">
                  <c:v>41</c:v>
                </c:pt>
                <c:pt idx="4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E44-4D0D-8E96-A2547A1ACB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93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A1931"/>
                </a:solidFill>
                <a:latin typeface="Arial"/>
              </a:rPr>
              <a:t>Avg Ticket Price per Airline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(USD)</c:v>
                </c:pt>
              </c:strCache>
            </c:strRef>
          </c:tx>
          <c:spPr>
            <a:solidFill>
              <a:srgbClr val="0D74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675-4CB0-BCC0-AD2C08C2018B}"/>
              </c:ext>
            </c:extLst>
          </c:dPt>
          <c:dPt>
            <c:idx val="1"/>
            <c:invertIfNegative val="0"/>
            <c:bubble3D val="0"/>
            <c:spPr>
              <a:solidFill>
                <a:srgbClr val="0CBAB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75-4CB0-BCC0-AD2C08C2018B}"/>
              </c:ext>
            </c:extLst>
          </c:dPt>
          <c:dPt>
            <c:idx val="2"/>
            <c:invertIfNegative val="0"/>
            <c:bubble3D val="0"/>
            <c:spPr>
              <a:solidFill>
                <a:srgbClr val="185A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675-4CB0-BCC0-AD2C08C2018B}"/>
              </c:ext>
            </c:extLst>
          </c:dPt>
          <c:dPt>
            <c:idx val="3"/>
            <c:invertIfNegative val="0"/>
            <c:bubble3D val="0"/>
            <c:spPr>
              <a:solidFill>
                <a:srgbClr val="FFC9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675-4CB0-BCC0-AD2C08C2018B}"/>
              </c:ext>
            </c:extLst>
          </c:dPt>
          <c:dPt>
            <c:idx val="4"/>
            <c:invertIfNegative val="0"/>
            <c:bubble3D val="0"/>
            <c:spPr>
              <a:solidFill>
                <a:srgbClr val="1A5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675-4CB0-BCC0-AD2C08C2018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Air I</c:v>
                </c:pt>
                <c:pt idx="1">
                  <c:v>E Airlines</c:v>
                </c:pt>
                <c:pt idx="2">
                  <c:v>S Airlines</c:v>
                </c:pt>
                <c:pt idx="3">
                  <c:v>B Airways</c:v>
                </c:pt>
                <c:pt idx="4">
                  <c:v>L Airlines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2645</c:v>
                </c:pt>
                <c:pt idx="1">
                  <c:v>2593</c:v>
                </c:pt>
                <c:pt idx="2">
                  <c:v>2581</c:v>
                </c:pt>
                <c:pt idx="3">
                  <c:v>2572</c:v>
                </c:pt>
                <c:pt idx="4">
                  <c:v>2560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675-4CB0-BCC0-AD2C08C201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999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CBAB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4572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CBABA">
                    <a:alpha val="40000"/>
                  </a:srgbClr>
                </a:solidFill>
              </a:rPr>
              <a:t>✈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Bookings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C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4114800" cy="36576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63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  |  250 Bookings  |  5 Airlines  |  6 Departure Cities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051560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91440" cy="105156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527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bookings · 9 fields · 5 airlines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4114800" cy="105156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91440" cy="105156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527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23560" y="1234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2356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· Avg distance · Avg duration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114800" cy="1051560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77440"/>
            <a:ext cx="91440" cy="105156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871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2468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Price Analysis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travel class and by airline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377440"/>
            <a:ext cx="4114800" cy="105156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377440"/>
            <a:ext cx="91440" cy="105156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4871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23560" y="2468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City Trends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2356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departure hubs globally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114800" cy="1051560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11880"/>
            <a:ext cx="91440" cy="105156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21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43000" y="3703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430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across 6 payment types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4114800" cy="105156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11880"/>
            <a:ext cx="91440" cy="105156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721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623560" y="3703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Class Breakdown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62356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· Premium Eco · Business · First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&amp; Description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5303520" cy="3017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booking 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in USD (113 – 4,985)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Distance_km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distance in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Flight_Duration_hr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in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Passenger_Age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13 – 80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airlines (B, S, E, L, Air 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Travel_Class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 / Bus / First / Prem Eco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Departure_City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global cities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payment types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097280"/>
            <a:ext cx="2743200" cy="777240"/>
          </a:xfrm>
          <a:prstGeom prst="rect">
            <a:avLst/>
          </a:prstGeom>
          <a:solidFill>
            <a:srgbClr val="185AD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72200" y="1133856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223760" y="129844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35040" y="2057400"/>
            <a:ext cx="2743200" cy="777240"/>
          </a:xfrm>
          <a:prstGeom prst="rect">
            <a:avLst/>
          </a:prstGeom>
          <a:solidFill>
            <a:srgbClr val="0CBAB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72200" y="2093976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223760" y="22585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35040" y="3017520"/>
            <a:ext cx="2743200" cy="777240"/>
          </a:xfrm>
          <a:prstGeom prst="rect">
            <a:avLst/>
          </a:prstGeom>
          <a:solidFill>
            <a:srgbClr val="0A1931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72200" y="3054096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7223760" y="32186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35040" y="3977640"/>
            <a:ext cx="2743200" cy="7772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72200" y="4014216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7223760" y="41788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Cities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65960" cy="3474720"/>
          </a:xfrm>
          <a:prstGeom prst="rect">
            <a:avLst/>
          </a:prstGeom>
          <a:solidFill>
            <a:srgbClr val="185AD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965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2,578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2724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31272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Ticket Price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63931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$113 – $4,985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188720"/>
            <a:ext cx="1965960" cy="3474720"/>
          </a:xfrm>
          <a:prstGeom prst="rect">
            <a:avLst/>
          </a:prstGeom>
          <a:solidFill>
            <a:srgbClr val="0CBAB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280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50592" y="1965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7,557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450592" y="2724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50592" y="31272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Route Distance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50592" y="363931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14,944 KM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188720"/>
            <a:ext cx="1965960" cy="3474720"/>
          </a:xfrm>
          <a:prstGeom prst="rect">
            <a:avLst/>
          </a:prstGeom>
          <a:solidFill>
            <a:srgbClr val="1A56A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6864" y="1280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26864" y="1965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626864" y="2724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26864" y="31272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Flight Duration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26864" y="363931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28.32 hours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03136" y="1188720"/>
            <a:ext cx="1965960" cy="3474720"/>
          </a:xfrm>
          <a:prstGeom prst="rect">
            <a:avLst/>
          </a:prstGeom>
          <a:solidFill>
            <a:srgbClr val="0D749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03136" y="1280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803136" y="1965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803136" y="2724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03136" y="31272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Passenger 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03136" y="363931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13 – 80 years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Price Analysis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51560"/>
          <a:ext cx="5029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Insights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577840" y="1508760"/>
            <a:ext cx="3246120" cy="731520"/>
          </a:xfrm>
          <a:prstGeom prst="rect">
            <a:avLst/>
          </a:prstGeom>
          <a:solidFill>
            <a:srgbClr val="F8F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508760"/>
            <a:ext cx="91440" cy="731520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0" y="1554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$2,878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1892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 vs Economy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2377440"/>
            <a:ext cx="3246120" cy="731520"/>
          </a:xfrm>
          <a:prstGeom prst="rect">
            <a:avLst/>
          </a:prstGeom>
          <a:solidFill>
            <a:srgbClr val="F8F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2377440"/>
            <a:ext cx="91440" cy="73152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13" name="Text 10"/>
          <p:cNvSpPr/>
          <p:nvPr/>
        </p:nvSpPr>
        <p:spPr>
          <a:xfrm>
            <a:off x="576072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Economy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0" y="2423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$2,604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76072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 vs Economy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77840" y="3246120"/>
            <a:ext cx="3246120" cy="731520"/>
          </a:xfrm>
          <a:prstGeom prst="rect">
            <a:avLst/>
          </a:prstGeom>
          <a:solidFill>
            <a:srgbClr val="F8F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3246120"/>
            <a:ext cx="91440" cy="731520"/>
          </a:xfrm>
          <a:prstGeom prst="rect">
            <a:avLst/>
          </a:prstGeom>
          <a:solidFill>
            <a:srgbClr val="0CBABA"/>
          </a:solidFill>
          <a:ln/>
        </p:spPr>
      </p:sp>
      <p:sp>
        <p:nvSpPr>
          <p:cNvPr id="18" name="Text 15"/>
          <p:cNvSpPr/>
          <p:nvPr/>
        </p:nvSpPr>
        <p:spPr>
          <a:xfrm>
            <a:off x="576072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0" y="3291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C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$2,549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760720" y="3630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 vs Economy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577840" y="4114800"/>
            <a:ext cx="3246120" cy="731520"/>
          </a:xfrm>
          <a:prstGeom prst="rect">
            <a:avLst/>
          </a:prstGeom>
          <a:solidFill>
            <a:srgbClr val="F8F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0" y="4114800"/>
            <a:ext cx="91440" cy="7315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0"/>
          <p:cNvSpPr/>
          <p:nvPr/>
        </p:nvSpPr>
        <p:spPr>
          <a:xfrm>
            <a:off x="5760720" y="4160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772400" y="4160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$2,242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760720" y="4498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Cities &amp; Payment Methods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51560"/>
          <a:ext cx="45720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2585486900"/>
              </p:ext>
            </p:extLst>
          </p:nvPr>
        </p:nvGraphicFramePr>
        <p:xfrm>
          <a:off x="5029200" y="1051560"/>
          <a:ext cx="38404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Class Breakdown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51560"/>
          <a:ext cx="43891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9377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Detail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937760" y="1554480"/>
            <a:ext cx="3840480" cy="749808"/>
          </a:xfrm>
          <a:prstGeom prst="rect">
            <a:avLst/>
          </a:prstGeom>
          <a:solidFill>
            <a:srgbClr val="F8F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937760" y="1554480"/>
            <a:ext cx="91440" cy="749808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8" name="Text 5"/>
          <p:cNvSpPr/>
          <p:nvPr/>
        </p:nvSpPr>
        <p:spPr>
          <a:xfrm>
            <a:off x="5120640" y="1618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Economy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120640" y="19568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bookings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27.6%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937760" y="2423160"/>
            <a:ext cx="3840480" cy="749808"/>
          </a:xfrm>
          <a:prstGeom prst="rect">
            <a:avLst/>
          </a:prstGeom>
          <a:solidFill>
            <a:srgbClr val="F8F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91440" cy="749808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0" y="24871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120640" y="2825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bookings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80960" y="2560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25.2%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937760" y="3291840"/>
            <a:ext cx="3840480" cy="749808"/>
          </a:xfrm>
          <a:prstGeom prst="rect">
            <a:avLst/>
          </a:prstGeom>
          <a:solidFill>
            <a:srgbClr val="F8F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937760" y="3291840"/>
            <a:ext cx="91440" cy="749808"/>
          </a:xfrm>
          <a:prstGeom prst="rect">
            <a:avLst/>
          </a:prstGeom>
          <a:solidFill>
            <a:srgbClr val="0CBABA"/>
          </a:solidFill>
          <a:ln/>
        </p:spPr>
      </p:sp>
      <p:sp>
        <p:nvSpPr>
          <p:cNvPr id="18" name="Text 15"/>
          <p:cNvSpPr/>
          <p:nvPr/>
        </p:nvSpPr>
        <p:spPr>
          <a:xfrm>
            <a:off x="5120640" y="3355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120640" y="36941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bookings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80960" y="3429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C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4937760" y="4160520"/>
            <a:ext cx="3840480" cy="749808"/>
          </a:xfrm>
          <a:prstGeom prst="rect">
            <a:avLst/>
          </a:prstGeom>
          <a:solidFill>
            <a:srgbClr val="F8F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37760" y="4160520"/>
            <a:ext cx="91440" cy="749808"/>
          </a:xfrm>
          <a:prstGeom prst="rect">
            <a:avLst/>
          </a:prstGeom>
          <a:solidFill>
            <a:srgbClr val="ADB5BD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562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bookings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680960" y="4297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22.4%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Comparison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51560"/>
          <a:ext cx="43891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274320" y="3063240"/>
          <a:ext cx="43891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9377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Summary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463040"/>
          <a:ext cx="3840480" cy="181051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Airline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Bookings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Price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 Airways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$2,572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 Airlines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$2,581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 Airlines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$2,593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 Airlines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$2,560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Air 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$2,645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4937760" y="3611880"/>
            <a:ext cx="3840480" cy="1188720"/>
          </a:xfrm>
          <a:prstGeom prst="rect">
            <a:avLst/>
          </a:prstGeom>
          <a:solidFill>
            <a:srgbClr val="0A1931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120640" y="3675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5120640" y="40416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Airways leads in booking volume (50), while Air I commands the highest average ticket price ($2,645). All airlines show competitive pricing within a ~$85 range.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143000"/>
          </a:xfrm>
          <a:prstGeom prst="rect">
            <a:avLst/>
          </a:prstGeom>
          <a:solidFill>
            <a:srgbClr val="F8F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91440" cy="114300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170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Economy Dominates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5544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Economy is the most booked class (27.6%), slightly ahead of First Class (25.2%), suggesting value-conscious fliers prefer it over Economy.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206240" cy="1143000"/>
          </a:xfrm>
          <a:prstGeom prst="rect">
            <a:avLst/>
          </a:prstGeom>
          <a:solidFill>
            <a:srgbClr val="F8F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97280"/>
            <a:ext cx="91440" cy="1143000"/>
          </a:xfrm>
          <a:prstGeom prst="rect">
            <a:avLst/>
          </a:prstGeom>
          <a:solidFill>
            <a:srgbClr val="185ADB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170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Commands Top Price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15544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averages $2,878 — 28% more than Economy's $2,242 — yet attracts 63 bookings, nearly matching Business (62).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206240" cy="1143000"/>
          </a:xfrm>
          <a:prstGeom prst="rect">
            <a:avLst/>
          </a:prstGeom>
          <a:solidFill>
            <a:srgbClr val="F8F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77440"/>
            <a:ext cx="91440" cy="1143000"/>
          </a:xfrm>
          <a:prstGeom prst="rect">
            <a:avLst/>
          </a:prstGeom>
          <a:solidFill>
            <a:srgbClr val="0CBAB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450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is the Top Hub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28346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leads departures with 37 bookings, followed closely by Dubai (33), New York &amp; Delhi (32 each).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377440"/>
            <a:ext cx="4206240" cy="1143000"/>
          </a:xfrm>
          <a:prstGeom prst="rect">
            <a:avLst/>
          </a:prstGeom>
          <a:solidFill>
            <a:srgbClr val="F8F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377440"/>
            <a:ext cx="91440" cy="1143000"/>
          </a:xfrm>
          <a:prstGeom prst="rect">
            <a:avLst/>
          </a:prstGeom>
          <a:solidFill>
            <a:srgbClr val="0CBABA"/>
          </a:solidFill>
          <a:ln/>
        </p:spPr>
      </p:sp>
      <p:sp>
        <p:nvSpPr>
          <p:cNvPr id="18" name="Text 16"/>
          <p:cNvSpPr/>
          <p:nvPr/>
        </p:nvSpPr>
        <p:spPr>
          <a:xfrm>
            <a:off x="4910328" y="2450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is Most Popular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0328" y="28346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(47) edges out Cash (45) and Net Banking (45) as the preferred payment. UPI is the least used (31).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206240" cy="1143000"/>
          </a:xfrm>
          <a:prstGeom prst="rect">
            <a:avLst/>
          </a:prstGeom>
          <a:solidFill>
            <a:srgbClr val="F8F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57600"/>
            <a:ext cx="91440" cy="1143000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730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Long-Haul Routes Dominate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" y="41148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average of 7,557 KM and 11 hrs, most bookings are for long-haul international routes, explaining the high avg price.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206240" cy="1143000"/>
          </a:xfrm>
          <a:prstGeom prst="rect">
            <a:avLst/>
          </a:prstGeom>
          <a:solidFill>
            <a:srgbClr val="F8F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57600"/>
            <a:ext cx="91440" cy="1143000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26" name="Text 24"/>
          <p:cNvSpPr/>
          <p:nvPr/>
        </p:nvSpPr>
        <p:spPr>
          <a:xfrm>
            <a:off x="4910328" y="3730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Airline Pricing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0328" y="41148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airlines price within a $85 band ($2,560–$2,645 avg), indicating a highly competitive market with no outlier pricing.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CBABA"/>
          </a:solidFill>
          <a:ln/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2743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CBABA">
                    <a:alpha val="50000"/>
                  </a:srgbClr>
                </a:solidFill>
              </a:rPr>
              <a:t>✈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743200" y="2377440"/>
            <a:ext cx="3657600" cy="45720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Bookings Analytics — Power BI Project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154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250 flight bookings analyzed across 9 dimensions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538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airlines · 6 departure cities · 4 travel classes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922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 ticket price: $2,578  |  Avg distance: 7,557 KM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618</Words>
  <Application>Microsoft Office PowerPoint</Application>
  <PresentationFormat>On-screen Show (16:9)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Bookings Analytics</dc:title>
  <dc:subject>PptxGenJS Presentation</dc:subject>
  <dc:creator>PptxGenJS</dc:creator>
  <cp:lastModifiedBy>Ajsal PA</cp:lastModifiedBy>
  <cp:revision>1</cp:revision>
  <dcterms:created xsi:type="dcterms:W3CDTF">2026-04-21T17:41:52Z</dcterms:created>
  <dcterms:modified xsi:type="dcterms:W3CDTF">2026-09-18T19:38:04Z</dcterms:modified>
</cp:coreProperties>
</file>